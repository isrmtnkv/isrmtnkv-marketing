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10d03670904c7e" /><Relationship Type="http://schemas.openxmlformats.org/officeDocument/2006/relationships/extended-properties" Target="/docProps/app.xml" Id="R7a00c5efbb6a4390" /><Relationship Type="http://schemas.openxmlformats.org/officeDocument/2006/relationships/officeDocument" Target="/ppt/presentation.xml" Id="Rbfefae4dd83f40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7f7961db964665"/>
  </p:sldMasterIdLst>
  <p:notesMasterIdLst>
    <p:notesMasterId xmlns:r="http://schemas.openxmlformats.org/officeDocument/2006/relationships" r:id="R6db187ad1128400d"/>
  </p:notesMasterIdLst>
  <p:sldIdLst>
    <p:sldId xmlns:r="http://schemas.openxmlformats.org/officeDocument/2006/relationships" id="256" r:id="Rb5908f1031d04d6b"/>
    <p:sldId xmlns:r="http://schemas.openxmlformats.org/officeDocument/2006/relationships" id="257" r:id="R0bba9273cc7241dd"/>
    <p:sldId xmlns:r="http://schemas.openxmlformats.org/officeDocument/2006/relationships" id="258" r:id="Rcd25ad42ae77470b"/>
    <p:sldId xmlns:r="http://schemas.openxmlformats.org/officeDocument/2006/relationships" id="259" r:id="R86afdb89bfaf43e5"/>
    <p:sldId xmlns:r="http://schemas.openxmlformats.org/officeDocument/2006/relationships" id="260" r:id="R9f4f87121e4d4fce"/>
    <p:sldId xmlns:r="http://schemas.openxmlformats.org/officeDocument/2006/relationships" id="261" r:id="Rfd34e93d146b4779"/>
    <p:sldId xmlns:r="http://schemas.openxmlformats.org/officeDocument/2006/relationships" id="262" r:id="R5867f598d7ce450f"/>
    <p:sldId xmlns:r="http://schemas.openxmlformats.org/officeDocument/2006/relationships" id="263" r:id="Re71574ee20624b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0aa16fc6fe4746" /><Relationship Type="http://schemas.openxmlformats.org/officeDocument/2006/relationships/slideMaster" Target="/ppt/slideMasters/slideMaster1.xml" Id="R127f7961db964665" /><Relationship Type="http://schemas.openxmlformats.org/officeDocument/2006/relationships/notesMaster" Target="/ppt/notesMasters/notesMaster1.xml" Id="R6db187ad1128400d" /><Relationship Type="http://schemas.openxmlformats.org/officeDocument/2006/relationships/presProps" Target="/ppt/presProps.xml" Id="R2cbcf513c8b04aa1" /><Relationship Type="http://schemas.openxmlformats.org/officeDocument/2006/relationships/tableStyles" Target="/ppt/tableStyles.xml" Id="R609b7b8068da4509" /><Relationship Type="http://schemas.openxmlformats.org/officeDocument/2006/relationships/slide" Target="/ppt/slides/slide1.xml" Id="Rb5908f1031d04d6b" /><Relationship Type="http://schemas.openxmlformats.org/officeDocument/2006/relationships/slide" Target="/ppt/slides/slide2.xml" Id="R0bba9273cc7241dd" /><Relationship Type="http://schemas.openxmlformats.org/officeDocument/2006/relationships/slide" Target="/ppt/slides/slide3.xml" Id="Rcd25ad42ae77470b" /><Relationship Type="http://schemas.openxmlformats.org/officeDocument/2006/relationships/slide" Target="/ppt/slides/slide4.xml" Id="R86afdb89bfaf43e5" /><Relationship Type="http://schemas.openxmlformats.org/officeDocument/2006/relationships/slide" Target="/ppt/slides/slide5.xml" Id="R9f4f87121e4d4fce" /><Relationship Type="http://schemas.openxmlformats.org/officeDocument/2006/relationships/slide" Target="/ppt/slides/slide6.xml" Id="Rfd34e93d146b4779" /><Relationship Type="http://schemas.openxmlformats.org/officeDocument/2006/relationships/slide" Target="/ppt/slides/slide7.xml" Id="R5867f598d7ce450f" /><Relationship Type="http://schemas.openxmlformats.org/officeDocument/2006/relationships/slide" Target="/ppt/slides/slide8.xml" Id="Re71574ee20624b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b66d49a2ef4f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e7862d534e43d4" /><Relationship Type="http://schemas.openxmlformats.org/officeDocument/2006/relationships/notesMaster" Target="/ppt/notesMasters/notesMaster1.xml" Id="R82be937f59c247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b2d683215046c0" /><Relationship Type="http://schemas.openxmlformats.org/officeDocument/2006/relationships/notesMaster" Target="/ppt/notesMasters/notesMaster1.xml" Id="Rab67568431bf44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dcad4aa3c34354" /><Relationship Type="http://schemas.openxmlformats.org/officeDocument/2006/relationships/notesMaster" Target="/ppt/notesMasters/notesMaster1.xml" Id="Rba01f0546a0e44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afcdb0295b4f86" /><Relationship Type="http://schemas.openxmlformats.org/officeDocument/2006/relationships/notesMaster" Target="/ppt/notesMasters/notesMaster1.xml" Id="R99beac8f490442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321b808b1347e5" /><Relationship Type="http://schemas.openxmlformats.org/officeDocument/2006/relationships/notesMaster" Target="/ppt/notesMasters/notesMaster1.xml" Id="Rf714ef44ed2247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a24fbaca204dd6" /><Relationship Type="http://schemas.openxmlformats.org/officeDocument/2006/relationships/notesMaster" Target="/ppt/notesMasters/notesMaster1.xml" Id="R84854186b5a842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8af59577ab4dfe" /><Relationship Type="http://schemas.openxmlformats.org/officeDocument/2006/relationships/notesMaster" Target="/ppt/notesMasters/notesMaster1.xml" Id="R066ba8735d2d43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3d9300c1764dfc" /><Relationship Type="http://schemas.openxmlformats.org/officeDocument/2006/relationships/notesMaster" Target="/ppt/notesMasters/notesMaster1.xml" Id="Rda1209f7264348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88c509be6549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ae82d2805d48a1" /><Relationship Type="http://schemas.openxmlformats.org/officeDocument/2006/relationships/slideLayout" Target="/ppt/slideLayouts/slideLayout1.xml" Id="Rcac13e90646749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c13e90646749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10c6341cd4582" /><Relationship Type="http://schemas.openxmlformats.org/officeDocument/2006/relationships/notesSlide" Target="/ppt/notesSlides/notesSlide1.xml" Id="Ref3141d2b3dd45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82093bbab45f4" /><Relationship Type="http://schemas.openxmlformats.org/officeDocument/2006/relationships/notesSlide" Target="/ppt/notesSlides/notesSlide2.xml" Id="Rd6e829bca9d646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99540a12d4f7a" /><Relationship Type="http://schemas.openxmlformats.org/officeDocument/2006/relationships/notesSlide" Target="/ppt/notesSlides/notesSlide3.xml" Id="Rc4831ba0720540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9b60d5ac04819" /><Relationship Type="http://schemas.openxmlformats.org/officeDocument/2006/relationships/notesSlide" Target="/ppt/notesSlides/notesSlide4.xml" Id="R8e07b1bbf95446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8f60988bb4c9d" /><Relationship Type="http://schemas.openxmlformats.org/officeDocument/2006/relationships/notesSlide" Target="/ppt/notesSlides/notesSlide5.xml" Id="Rb3b4c90e5c2547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b3900e22c4b37" /><Relationship Type="http://schemas.openxmlformats.org/officeDocument/2006/relationships/notesSlide" Target="/ppt/notesSlides/notesSlide6.xml" Id="Ree5ad93bcb2243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87181be494db5" /><Relationship Type="http://schemas.openxmlformats.org/officeDocument/2006/relationships/notesSlide" Target="/ppt/notesSlides/notesSlide7.xml" Id="Ra55dca1b4e334e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87a31acbd4665" /><Relationship Type="http://schemas.openxmlformats.org/officeDocument/2006/relationships/notesSlide" Target="/ppt/notesSlides/notesSlide8.xml" Id="R847d1885a70840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D586B8-BD2B-4E34-91FA-FAF15A64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-1428750"/>
            <a:ext cx="49530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AB96F-4912-4CD8-8D27-31CF3AE6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-1066800"/>
            <a:ext cx="47625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B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DE4B3-014B-4F58-ABDF-FD44EAEA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B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46775-4301-4FFF-A353-27CFF49B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D6030-990D-4339-B3A4-CC3A402C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BB081-6E11-467E-B2CE-9392B12A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E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CB70D-C8D3-4D62-A2EA-52929307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Маркетолог на аутсорсе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DDE86-AD40-401F-93DF-0B0C8B3D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5300"/>
            <a:ext cx="4495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301C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41602-3740-4285-9572-A55A2FF3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6197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C3AE"/>
                </a:solidFill>
                <a:latin typeface="Aptos"/>
                <a:ea typeface="Aptos"/>
                <a:cs typeface="Aptos"/>
              </a:rPr>
              <a:t>для разработчиков, дизайнеров, SMM и руководителей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76D37-C1AD-486E-8BDC-9984D132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90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rPr>
              <a:t>Партнерское КП: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BD56F-79EC-4C06-B9F5-46F87783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95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rPr>
              <a:t>20% за клиента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95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rPr>
              <a:t>на маркетинг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4B583-A792-4AF6-BD1B-AB1BB9B1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598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Если клиенту после вашей работы нужны заявки, реклама и аналитика - передайте его мне. После оплаты клиента вы получаете 20% с чека.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14025-48D1-41AF-9E8F-363967E1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36957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6D81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1C4A6-674A-448B-882F-2B4C62A3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90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C3AE"/>
                </a:solidFill>
                <a:latin typeface="Aptos"/>
                <a:ea typeface="Aptos"/>
                <a:cs typeface="Aptos"/>
              </a:rPr>
              <a:t>Партнерская ставка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E1685-CEF4-415D-BCC6-150B330A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526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4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60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rPr>
              <a:t>20%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7D0C4-BB8F-4513-B5C2-9C500C08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051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от оплаченного чека клиента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2190B-542C-4C1D-B8FB-D5CDFA0B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861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Фиксируем источник до первого созвона, выплату - после оплаты.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E654A-981A-4659-90F8-612E5CE2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400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419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00F29D-BC03-4E07-A167-A8107725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rPr>
              <a:t>5-15 тыс. 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C1AF4-10D2-4358-BAA6-7493706F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средняя выплата с одной рекомендации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AF886-33B5-4303-88EE-53802DA7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57750"/>
            <a:ext cx="2400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419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64FD34-4257-4DBE-B256-5113A3DA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292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rPr>
              <a:t>25-75 тыс. 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F659F7-6E0D-47E3-B81A-D0E48D63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292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типовой первый чек для расчета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72C37C-2663-4C4D-8D23-6CDB1C86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2400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419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6A9341-31A6-47BE-83C1-03F6B44B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rPr>
              <a:t>1 интро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6BCB8F-354C-43C1-B41F-ED19C063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292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достаточно, чтобы закрепить источник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5773A6-D47C-4BF3-9B19-96F57F9F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14900"/>
            <a:ext cx="2628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8F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FF34BC-BC05-4280-A254-A5856914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863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710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00B"/>
                </a:solidFill>
                <a:latin typeface="Aptos"/>
                <a:ea typeface="Aptos"/>
                <a:cs typeface="Aptos"/>
              </a:rPr>
              <a:t>Цель КП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C1EC93-07E5-4D1F-9348-1328CB98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1495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09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710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00B"/>
                </a:solidFill>
                <a:latin typeface="Aptos"/>
                <a:ea typeface="Aptos"/>
                <a:cs typeface="Aptos"/>
              </a:rPr>
              <a:t>кого передавать и сколько это может приносить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6CAC0E-06F5-4713-BFDF-EF8CF30C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2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280A11-1F74-455E-9788-E748A12C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7F8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8E79"/>
                </a:solidFill>
                <a:latin typeface="Aptos"/>
                <a:ea typeface="Aptos"/>
                <a:cs typeface="Aptos"/>
              </a:rPr>
              <a:t>Партнерское КП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1E1B75-AC2A-456D-A7FB-72210883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F8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8E79"/>
                </a:solidFill>
                <a:latin typeface="Aptos"/>
                <a:ea typeface="Aptos"/>
                <a:cs typeface="Aptos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989101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5D3CF8-680C-4ACD-B14C-2D79EBC9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-1428750"/>
            <a:ext cx="49530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616F1-610D-467A-98BB-43910361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-1066800"/>
            <a:ext cx="47625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B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5B2E5-3608-4809-BE9F-0C7770E7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B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FE964-F440-4DB9-B7D6-EBC32D5C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301C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E4DF6-2843-429F-BF2D-DC5DE683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когда предлагать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98405-FAB0-4E29-BF20-AE5A3821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42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rPr>
              <a:t>Рекомендация появляется в момент, когда клиент спрашивает про заявки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64D89-7CE9-41A5-92B8-1CBF5D16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990600"/>
            <a:ext cx="321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Лучше всего работает warm intro: партнер уже в доверии, а клиент понимает, зачем ему следующий шаг.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3AB9C-493D-4E11-B07C-CFB0B033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035BE-0C20-4566-9387-9C16E2BE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7F8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8E79"/>
                </a:solidFill>
                <a:latin typeface="Aptos"/>
                <a:ea typeface="Aptos"/>
                <a:cs typeface="Aptos"/>
              </a:rPr>
              <a:t>Партнерское КП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2D42F-C7D2-4A0D-9760-17FA63C5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F8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8E79"/>
                </a:solidFill>
                <a:latin typeface="Aptos"/>
                <a:ea typeface="Aptos"/>
                <a:cs typeface="Aptos"/>
              </a:rPr>
              <a:t>02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6E6B9-A503-4062-A113-08D20AA5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333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A7BC4-F172-4B77-A46B-8014C81B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После сайта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D9F31-872F-48E7-B400-B01FC47B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0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Сайт готов, но клиент не понимает, откуда брать заявки и как окупать разработку.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ADC8F-3D8A-41E5-B0F4-84285D96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66950"/>
            <a:ext cx="3333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DF1E5-8505-4B97-A580-FA326428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После дизайна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26E35-9243-4BA2-BF94-6A8AF6EF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8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Есть новый лендинг, упаковка или бренд, но нет теста оффера на реальном трафике.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FF8CB-E719-47A2-840B-1081A8CB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333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941CB-3CFA-41D2-8F46-C81FDF61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После SMM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58131-0D3B-4982-9236-D12F7170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Контент и комьюнити есть, но нужен платный поток лидов и понятная воронка.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14AF7D-3339-440D-9789-BCD86C60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90950"/>
            <a:ext cx="3333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2D9C50-5D1D-4C9A-917D-A6D306A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После стратегии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39061-15E4-474F-ABE4-35DB7AC0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434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3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Руководитель видит точки роста, но не хочет нанимать маркетолога в штат.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E05960-119F-4E8A-A67E-21FD5FA6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33909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D301C"/>
          </a:solidFill>
          <a:ln xmlns:a="http://schemas.openxmlformats.org/drawingml/2006/main" w="9525">
            <a:solidFill>
              <a:srgbClr val="6D81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4326F2-9903-4C5F-B697-7C141F8F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7C3AE"/>
                </a:solidFill>
                <a:latin typeface="Aptos"/>
                <a:ea typeface="Aptos"/>
                <a:cs typeface="Aptos"/>
              </a:rPr>
              <a:t>Фраза-маркер клиента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AA479B-3F9C-4188-A3DC-4E58A157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67050"/>
            <a:ext cx="262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0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rPr>
              <a:t>«А как теперь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rPr>
              <a:t>привлекать клиентов?»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6235A5-1368-42C5-B043-65AF3A8F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481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3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Если этот вопрос уже прозвучал, рекомендация выглядит не как продажа, а как логичное продолжение вашей работы.</a:t>
            </a:r>
          </a:p>
        </p:txBody>
      </p:sp>
    </p:spTree>
    <p:extLst>
      <p:ext uri="{BB962C8B-B14F-4D97-AF65-F5344CB8AC3E}">
        <p14:creationId xmlns:p14="http://schemas.microsoft.com/office/powerpoint/2010/main" val="537518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7EEEF9-9368-41B9-99F0-F3126E0B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-1428750"/>
            <a:ext cx="49530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2263D-D32A-451A-B7F8-79DD6104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-1066800"/>
            <a:ext cx="47625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B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4F478-C589-4686-BA9D-FEEFB4AE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B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C70B5-60B2-4F8C-8297-C2419F06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301C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66673-1AF9-415D-A831-56D83D96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задачи и чеки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3FD32-E41F-4018-BA29-A4169A4D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42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rPr>
              <a:t>Какие задачи я закрываю и сколько это примерно стоит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41DE0-5564-4D94-B002-B3A9B517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990600"/>
            <a:ext cx="321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4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Цены нужны, чтобы партнер сразу понимал порядок чека и своей выплаты. Финальная смета зависит от ниши, каналов, бюджета и текущей воронки.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DCA73-1BCB-450B-A9ED-3AA925F5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D11D5-833B-4041-95F3-7F304082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7F8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8E79"/>
                </a:solidFill>
                <a:latin typeface="Aptos"/>
                <a:ea typeface="Aptos"/>
                <a:cs typeface="Aptos"/>
              </a:rPr>
              <a:t>Партнерское КП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15B4A-2969-4AAC-99A1-8E3F48EE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F8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8E79"/>
                </a:solidFill>
                <a:latin typeface="Aptos"/>
                <a:ea typeface="Aptos"/>
                <a:cs typeface="Aptos"/>
              </a:rPr>
              <a:t>03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D511B-7822-4B2F-861F-F1B60948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5052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31FEC-A84D-44E5-960E-CAA461F3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Аудит рекламы и воронки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654E1-A81A-493B-9DEA-F40601B2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узкие места, быстрые правки, карта тестов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AE0C6-322D-4600-B6BB-B1BC0C20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15-25 тыс. 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7586F-71DF-4EDC-96A7-512DDDE1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5052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C52BA8-7E19-46D0-BFD5-219CA2F0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383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Стратегия + медиаплан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714C29-CDC1-4072-8233-C7A62979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каналы, KPI, бюджет, план на 30 дней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86D61-9C33-4AB5-9635-C5E5D48A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25-45 тыс. 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FB7E81-DA43-47A8-8913-87373476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35052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862604-894D-4E23-A995-29006FA1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383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Запуск 1 канала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60A137-EFA1-43A6-97F8-3036F519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3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Яндекс / VK / Telegram / Avito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866733-674A-454D-BE5E-EF2A82EB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35-60 тыс. 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5D7B06-2183-4659-A550-64D1A71F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5052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37B5EB-4537-4C9A-8736-EBF0C99F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Запуск 2-3 каналов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9DCF99-244C-47EE-82B4-ED59B59E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несколько гипотез и связок под лиды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14DFC4-AF4C-41EB-AE42-98E1485A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70-120 тыс. 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D2B84D-42C2-4075-B09F-EC81DAC9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35052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43DDD4-0109-4216-A93A-53564484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0042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Ведение 1 канала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9B0FF3-0847-47A1-94C8-D716A1B8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9570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оптимизация, отчеты, новые тесты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C75A0E-5C7F-4F08-BD09-3EE428D5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4335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40-70 тыс. ₽ / мес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3C9D84-60CC-49A3-A976-FC0B5332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57550"/>
            <a:ext cx="35052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E45FCD-AD76-44BF-B151-33CF1524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042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Ведение 2-3 каналов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036B7A-20F8-46C5-A19D-8BFFF789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9570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управление, аналитика, рост-гипотезы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2A72C7-4D5C-487B-835A-6CEEDC19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4335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80-150 тыс. ₽ / мес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8DFB98-26C6-49B4-BD88-28AB18D7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35052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B2334B-23A8-4A4A-8837-4907FF22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Оффер и лендинг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FF852-F766-4735-B7EB-77FAB008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смыслы, структура, формы, конверсия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AA8C2F-0C6B-40D1-B2A4-3B13591F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30-80 тыс. 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499016-D226-4C1C-B6D0-FA1D15EB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19600"/>
            <a:ext cx="35052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4E70FF-6F8F-4369-BBA0-411BA63A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624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Аналитика + CRM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B6A531-DD00-4224-B0D1-51EB7F05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577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цели, события, дашборд, передача лида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116866-F9FF-4C0D-887F-796E34FB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054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25-70 тыс. 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100035-242A-4443-9DF6-59A88F27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19600"/>
            <a:ext cx="35052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D8F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D94CD0-3EC8-410F-AEA4-9AE74BE5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624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710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00B"/>
                </a:solidFill>
                <a:latin typeface="Aptos"/>
                <a:ea typeface="Aptos"/>
                <a:cs typeface="Aptos"/>
              </a:rPr>
              <a:t>Рост-спринт / перезапуск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801C00-054D-40F2-BDD9-50CDC6C5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577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22301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3018"/>
                </a:solidFill>
                <a:latin typeface="Aptos"/>
                <a:ea typeface="Aptos"/>
                <a:cs typeface="Aptos"/>
              </a:rPr>
              <a:t>пересборка воронки и запуск тестов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0D3800-1A49-4949-B78D-DBBADC8A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054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710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0B"/>
                </a:solidFill>
                <a:latin typeface="Aptos"/>
                <a:ea typeface="Aptos"/>
                <a:cs typeface="Aptos"/>
              </a:rPr>
              <a:t>90-180 тыс. ₽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B17DC5-4A1E-4169-8B53-3B3216C9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90F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00C010-3AAA-41A7-9873-64B6EDE9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Пример выплаты: чек 50 тыс. ₽ = 10 тыс. ₽ партнеру; чек 120 тыс. ₽ = 24 тыс. ₽ партнеру.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59D2E9-DA86-4A98-9AA4-1AFBDBEA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5310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58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20% считается от фактически оплаченного чека</a:t>
            </a:r>
          </a:p>
        </p:txBody>
      </p:sp>
    </p:spTree>
    <p:extLst>
      <p:ext uri="{BB962C8B-B14F-4D97-AF65-F5344CB8AC3E}">
        <p14:creationId xmlns:p14="http://schemas.microsoft.com/office/powerpoint/2010/main" val="3950442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3903E4-ACB3-4055-8C47-43FDA17A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-1428750"/>
            <a:ext cx="49530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881B3-E955-4FA3-87BD-85C7CDFA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-1066800"/>
            <a:ext cx="47625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B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40C4E-2E7E-4D98-A9EB-8BBAF8FD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B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1D3E0-B4E7-4C9D-9A75-CD823C51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301C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8BA47-ADD3-47DB-BECB-E2491C44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качество лида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BBA8D-94BE-4104-AA1F-063CCFC9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42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rPr>
              <a:t>Кого лучше рекомендовать, чтобы интро превращалось в оплату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F1847-1911-4EFC-B923-EF3810F3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990600"/>
            <a:ext cx="321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Чем теплее контекст и понятнее задача клиента, тем выше шанс, что рекомендация не зависнет на созвоне.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BA1D5-599D-4572-8C37-9029471E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46E83-9D51-49E2-AF40-8A27D352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7F8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8E79"/>
                </a:solidFill>
                <a:latin typeface="Aptos"/>
                <a:ea typeface="Aptos"/>
                <a:cs typeface="Aptos"/>
              </a:rPr>
              <a:t>Партнерское КП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7802D-A41C-4390-98C4-FC04DEC4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F8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8E79"/>
                </a:solidFill>
                <a:latin typeface="Aptos"/>
                <a:ea typeface="Aptos"/>
                <a:cs typeface="Aptos"/>
              </a:rPr>
              <a:t>04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17DAC-FEE3-4EE1-A89C-D6D93FCD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244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6D81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48419-C055-4550-835E-BA447A43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Зеленые признаки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AB292-1623-4D54-8904-45B3634D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3DE4A-5432-49CE-ABF2-BA641F98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3F7EA"/>
                </a:solidFill>
                <a:latin typeface="Aptos"/>
                <a:ea typeface="Aptos"/>
                <a:cs typeface="Aptos"/>
              </a:rPr>
              <a:t>есть продукт, цена, география и понятная маржа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F3308-48D7-426A-B04F-BF2EDEF8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9A67A-E8AE-427E-BD2E-A2EA644B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6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3F7EA"/>
                </a:solidFill>
                <a:latin typeface="Aptos"/>
                <a:ea typeface="Aptos"/>
                <a:cs typeface="Aptos"/>
              </a:rPr>
              <a:t>клиент готов выделять рекламный бюджет и оплачивать работу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552DC-BA42-4A6D-A4DB-FFF3F25E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3A0E1D-0D13-400C-BBAA-1902FF8F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5285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3F7EA"/>
                </a:solidFill>
                <a:latin typeface="Aptos"/>
                <a:ea typeface="Aptos"/>
                <a:cs typeface="Aptos"/>
              </a:rPr>
              <a:t>есть сайт, лендинг, соцсети или готовность быстро поправить посадочную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793D7-F95F-4769-8B80-3866EC8A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74E17-C192-4E27-A7CE-F9202930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73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3F7EA"/>
                </a:solidFill>
                <a:latin typeface="Aptos"/>
                <a:ea typeface="Aptos"/>
                <a:cs typeface="Aptos"/>
              </a:rPr>
              <a:t>ЛПР выходит на созвон и принимает решения без месяца согласований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DC1D37-DEF3-442E-955A-120AB006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941EA8-D61B-4216-85B1-095BB3E4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6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3F7EA"/>
                </a:solidFill>
                <a:latin typeface="Aptos"/>
                <a:ea typeface="Aptos"/>
                <a:cs typeface="Aptos"/>
              </a:rPr>
              <a:t>есть менеджер или понятный процесс обработки заявок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73FCA0-1745-4141-8936-32933100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5486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51D13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3367E0-830E-473F-8D75-39390733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7E6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7E6F"/>
                </a:solidFill>
                <a:latin typeface="Aptos"/>
                <a:ea typeface="Aptos"/>
                <a:cs typeface="Aptos"/>
              </a:rPr>
              <a:t>Когда лучше не передавать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E74DBA-D210-4F46-83AD-8FBEDEC5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8C48D6-53E4-49EB-BA67-485DEDCD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90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1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клиент ищет бесплатную консультацию вместо платной работы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F55AAC-258A-4178-A9A4-BB8F93E7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480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7AF12A-FF1F-4BB3-BF86-4470982D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71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нет бюджета даже на тестовый запуск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724B46-26E8-470F-AB38-A7D04BFB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4C4013-61E3-44BA-A648-DD5D24BB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0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заявки не обрабатывают или отвечают через несколько дней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07C181-2465-4F6C-887E-840D930C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CFDDEB-6A77-4E18-AE6C-B3ADF0B1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3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продукт, цена или оффер еще не собраны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9628CA-7BF4-4D11-9AD7-F32B5C31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FCB700-CBEC-4978-9057-7C6E4178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14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3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ожидание: «запустите рекламу и сразу сделайте продажи без участия бизнеса»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9AB1C9-41A3-4A58-8400-AC165F75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8F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A4047F-1B12-4EFD-84E3-7474736C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3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710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0B"/>
                </a:solidFill>
                <a:latin typeface="Aptos"/>
                <a:ea typeface="Aptos"/>
                <a:cs typeface="Aptos"/>
              </a:rPr>
              <a:t>Самый сильный интро-контекст: «Мы сделали проект. Следующий шаг - заявки. Есть маркетолог, который может посмотреть воронку и предложить план запуска».</a:t>
            </a:r>
          </a:p>
        </p:txBody>
      </p:sp>
    </p:spTree>
    <p:extLst>
      <p:ext uri="{BB962C8B-B14F-4D97-AF65-F5344CB8AC3E}">
        <p14:creationId xmlns:p14="http://schemas.microsoft.com/office/powerpoint/2010/main" val="1664269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DD1370-1BB6-40C7-A928-68DF30BA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-1428750"/>
            <a:ext cx="49530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A3EA3-C216-4D4F-9754-3448A00D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-1066800"/>
            <a:ext cx="47625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B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F1209-BE32-4909-BBCE-73D0528B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B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724F5-7361-4EC1-846C-94805858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301C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F34D7-7FF0-4071-A387-7C500631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математика партнера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31F22-1E3F-460A-9EB5-FBF4F74C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42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rPr>
              <a:t>Сколько может приносить партнёрка при разном потоке клиентов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C8A75-B7BE-45C7-8F84-8821A277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990600"/>
            <a:ext cx="321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База расчета: клиент оплатил работу маркетолога - партнер получил 20% от чека.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D3A24-F9E7-4399-BE23-E40E9DA9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9281E-A661-4168-8834-F581F2BE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7F8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8E79"/>
                </a:solidFill>
                <a:latin typeface="Aptos"/>
                <a:ea typeface="Aptos"/>
                <a:cs typeface="Aptos"/>
              </a:rPr>
              <a:t>Партнерское КП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1951F-38AA-46B2-8829-B7F4124D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F8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8E79"/>
                </a:solidFill>
                <a:latin typeface="Aptos"/>
                <a:ea typeface="Aptos"/>
                <a:cs typeface="Aptos"/>
              </a:rPr>
              <a:t>05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3CFF7-EEF7-4DB0-9A2B-72F43390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8F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EF708-9F47-4B0D-845F-C3618944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00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00B"/>
                </a:solidFill>
                <a:latin typeface="Aptos"/>
                <a:ea typeface="Aptos"/>
                <a:cs typeface="Aptos"/>
              </a:rPr>
              <a:t>Формула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402AC-7A95-4CDE-A696-CFDF18B4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7100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7100B"/>
                </a:solidFill>
                <a:latin typeface="Aptos Display"/>
                <a:ea typeface="Aptos Display"/>
                <a:cs typeface="Aptos Display"/>
              </a:rPr>
              <a:t>чек 25-75 тыс. ₽  × 20%  =  5-15 тыс. ₽ с одной рекомендации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89D43-169E-4DB2-97C9-A3C8EF14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146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25311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53119"/>
                </a:solidFill>
                <a:latin typeface="Aptos"/>
                <a:ea typeface="Aptos"/>
                <a:cs typeface="Aptos"/>
              </a:rPr>
              <a:t>крупные проекты считаются так же: чек 150 тыс. ₽ = 30 тыс. ₽ партнеру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2EFB1-E4AD-4288-94AB-0D8DC171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038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B2B19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1AE91-B5F8-4DF9-AB44-B8617E5D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C3AE"/>
                </a:solidFill>
                <a:latin typeface="Aptos"/>
                <a:ea typeface="Aptos"/>
                <a:cs typeface="Aptos"/>
              </a:rPr>
              <a:t>Новых клиентов / мес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DF8B0-CDCD-4674-8EE3-3A0FBED1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28950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B2B19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36318A-079F-4687-AA75-CE0B37CE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6230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C3AE"/>
                </a:solidFill>
                <a:latin typeface="Aptos"/>
                <a:ea typeface="Aptos"/>
                <a:cs typeface="Aptos"/>
              </a:rPr>
              <a:t>Кому предложили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35E902-919B-47CD-B664-583D1296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895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B2B19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DEF94-96F0-4446-B4F8-A1909575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623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C3AE"/>
                </a:solidFill>
                <a:latin typeface="Aptos"/>
                <a:ea typeface="Aptos"/>
                <a:cs typeface="Aptos"/>
              </a:rPr>
              <a:t>Оплаченных стартов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34BF9-4613-43A3-9787-3C803D54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28950"/>
            <a:ext cx="19621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B2B19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C52187-6DE4-4FDD-882C-7AE57128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623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C3AE"/>
                </a:solidFill>
                <a:latin typeface="Aptos"/>
                <a:ea typeface="Aptos"/>
                <a:cs typeface="Aptos"/>
              </a:rPr>
              <a:t>Выплата с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EEE736-ABFC-45CF-995D-647EBCE9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28950"/>
            <a:ext cx="2247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B2B19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A5BE8-60A4-4B10-B5DC-8F9E4BCA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623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C3AE"/>
                </a:solidFill>
                <a:latin typeface="Aptos"/>
                <a:ea typeface="Aptos"/>
                <a:cs typeface="Aptos"/>
              </a:rPr>
              <a:t>Ориентир / мес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C384A-82BC-4F00-9CB2-BD8959FA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038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D92BC5-F895-4C33-AE92-1A6A3016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7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rPr>
              <a:t>2-4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B1650F-6BA2-412E-9B93-FB8E15C3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6235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102DE7-466E-4B80-AACB-80A4F90D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147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2-3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F200FC-EC8C-40A4-9279-9B66B44B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EF72F9-2B45-4DEC-9C1A-4D7ADA86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14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2-3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6B0903-4049-471E-B56A-C95D1DD5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62350"/>
            <a:ext cx="1962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1F2191-CE97-409D-A915-A105DF06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5-15 тыс. 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1874D3-3722-493A-8C03-EFBEB382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62350"/>
            <a:ext cx="2247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8F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022DE6-600B-4333-81B6-7BB444B1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147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7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7100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7100B"/>
                </a:solidFill>
                <a:latin typeface="Aptos Display"/>
                <a:ea typeface="Aptos Display"/>
                <a:cs typeface="Aptos Display"/>
              </a:rPr>
              <a:t>15-45 тыс. 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25BD76-EBC2-41B8-9C23-6DB203D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038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BC3CE9-069A-4039-99E1-08D54FC9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7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rPr>
              <a:t>6-8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CE575C-47A7-455D-96A0-27753BE2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7195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1D2BBB-FA1D-479F-9117-A4D03358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243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4-6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9246FF-B514-4BA1-9C3E-2A8F4B16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71950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FA1E9B-8835-4580-953F-EBD29DA8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243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3-5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2036A0-561F-4A7C-B878-7BE26874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71950"/>
            <a:ext cx="1962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D4CED6-9B0E-4E1D-9979-1947AE62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2435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5-15 тыс. 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696279-13CF-4FA0-BD97-5287C6B4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71950"/>
            <a:ext cx="2247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8F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C91B15-6F54-4939-8882-480F1250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243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7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7100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7100B"/>
                </a:solidFill>
                <a:latin typeface="Aptos Display"/>
                <a:ea typeface="Aptos Display"/>
                <a:cs typeface="Aptos Display"/>
              </a:rPr>
              <a:t>25-75 тыс. ₽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1D0BF0-4783-48E6-A774-348AE7BA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038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395F18-484D-4534-9FB2-1146E825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7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rPr>
              <a:t>10-12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968E08-18C1-49CC-8456-79F19CBF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8155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D40632-149D-4875-AF84-1678DC6F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339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6-8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04B4A8-0DEB-445A-99D0-AFAC7BC8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81550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4DD821-742A-41B6-A61E-F80B6B5C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339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5-7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7DF952-2654-41D9-B855-D0FC5C19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81550"/>
            <a:ext cx="1962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5C8774-F6B7-4178-BE93-B4554FB9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3395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5-15 тыс. ₽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A35AF1-CB0A-47D1-BA65-49AC85C1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81550"/>
            <a:ext cx="2247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8F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356603-4196-474D-BD57-534C4EBF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339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7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7100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7100B"/>
                </a:solidFill>
                <a:latin typeface="Aptos Display"/>
                <a:ea typeface="Aptos Display"/>
                <a:cs typeface="Aptos Display"/>
              </a:rPr>
              <a:t>40-105 тыс. ₽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2C5932-FBD2-432D-B617-1E3D35AF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2038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D715DC-673B-4170-8B8F-E6EA9C67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7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rPr>
              <a:t>15+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BD9C09-DAFA-4A3D-A1EF-6F3338E2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39115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37C102-DF3D-4A2F-BEBB-13F11ACF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435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8-12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324150-FB49-4966-9B99-4449B571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91150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754A6D-A99B-4820-A7DA-02CFEFA2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43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7-10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FA7FCC6-570D-46B6-872D-07F0E1AE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91150"/>
            <a:ext cx="1962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6B572C-5538-45AD-9B11-3AFC914B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54355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5-15 тыс. ₽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F91B7BF-76DB-4334-81AC-6DF4405D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91150"/>
            <a:ext cx="2247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8F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83D383-659B-43F4-8734-886A0154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435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7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7100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7100B"/>
                </a:solidFill>
                <a:latin typeface="Aptos Display"/>
                <a:ea typeface="Aptos Display"/>
                <a:cs typeface="Aptos Display"/>
              </a:rPr>
              <a:t>60-150 тыс. ₽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26E101A-F4CF-4779-B329-0D774F10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10287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F8E7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F8E79"/>
                </a:solidFill>
                <a:latin typeface="Aptos"/>
                <a:ea typeface="Aptos"/>
                <a:cs typeface="Aptos"/>
              </a:rPr>
              <a:t>Нижняя граница сценариев - рабочий ориентир, а не математический минимум. Точная выплата всегда считается по фактическому оплаченному чеку.</a:t>
            </a:r>
          </a:p>
        </p:txBody>
      </p:sp>
    </p:spTree>
    <p:extLst>
      <p:ext uri="{BB962C8B-B14F-4D97-AF65-F5344CB8AC3E}">
        <p14:creationId xmlns:p14="http://schemas.microsoft.com/office/powerpoint/2010/main" val="2369075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F963F8-D9AB-444A-9947-EF01E942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-1428750"/>
            <a:ext cx="49530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746C8-18DC-49DE-A3D3-8E608AB4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-1066800"/>
            <a:ext cx="47625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B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5A454-1EBB-4E85-B1D3-6609A5F1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B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74F04-22DE-4887-8199-79197174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301C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61F8C-5513-4EE2-8696-60A16E54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процесс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0D7F2-4C8E-4DFB-8E5E-90340719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42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rPr>
              <a:t>Как проходит передача клиента: 4 шага без лишней бюрократии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3F151-2D3B-40B4-8F2E-AC6A5181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990600"/>
            <a:ext cx="321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Партнеру не нужно продавать за меня. Достаточно теплого интро и контекста по задаче.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94612-6B18-4C22-8547-C4231209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DDB27-AC9B-44DE-8EA0-5AAF6DAE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7F8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8E79"/>
                </a:solidFill>
                <a:latin typeface="Aptos"/>
                <a:ea typeface="Aptos"/>
                <a:cs typeface="Aptos"/>
              </a:rPr>
              <a:t>Партнерское КП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0A64E-EA14-451D-8D0A-EDFDF629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F8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8E79"/>
                </a:solidFill>
                <a:latin typeface="Aptos"/>
                <a:ea typeface="Aptos"/>
                <a:cs typeface="Aptos"/>
              </a:rPr>
              <a:t>06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81EEB-7564-4E1A-9AD9-305CB2AA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476500" cy="26289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07A36-C907-43AC-ACCA-7B308AC4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B7C0D-5D8F-4176-9840-FBE393DA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95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Вы делаете интро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D397A-53F2-4FD6-BCE6-CF21DA0C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194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5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Добавляете меня в чат или передаете контакт. Желательно: сайт, ниша, задача, что уже сделано.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CCD59-1FF8-42AF-83F4-6010AD81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24100"/>
            <a:ext cx="2476500" cy="26289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50298-BB16-47AE-83E6-1766A0F1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5E318-24FE-48DF-B2A3-C68C6611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147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95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Я квалифицирую запрос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FA789-780F-4D6B-AB31-648CF468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81450"/>
            <a:ext cx="194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Смотрю продукт, воронку, готовность к запуску и говорю, где есть смысл начинать.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86A16-DDB5-4694-8F90-9D9EF054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476500" cy="26289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023735-0CBB-46A8-AF89-FFDE906E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C1CB6-54DA-4A70-A902-D29A48EE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95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Клиент получает смету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658F20-3108-4E88-BFE0-5C7A38EC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81450"/>
            <a:ext cx="194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Фиксируем задачу, чек, сроки, рекламные каналы и ожидаемый первый результат.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FEC726-C30C-46E7-A934-3F50E4A9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2476500" cy="26289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8F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28931F-87D7-44B9-92BF-CE554334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07100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07100B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AF657-39A0-4C37-9C43-C508516A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147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950" b="1">
                <a:solidFill>
                  <a:srgbClr val="07100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7100B"/>
                </a:solidFill>
                <a:latin typeface="Aptos"/>
                <a:ea typeface="Aptos"/>
                <a:cs typeface="Aptos"/>
              </a:rPr>
              <a:t>После оплаты - выплата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2B449D-BE23-4BCE-97F9-3473BF66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81450"/>
            <a:ext cx="194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2630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63017"/>
                </a:solidFill>
                <a:latin typeface="Aptos"/>
                <a:ea typeface="Aptos"/>
                <a:cs typeface="Aptos"/>
              </a:rPr>
              <a:t>Когда клиент оплатил работу, вы получаете 20% с согласованного чека.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6C263-33B2-4C01-AF88-9F6F404D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91150"/>
            <a:ext cx="8477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C13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658269-E857-4614-B7E8-04274DDA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62600"/>
            <a:ext cx="788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2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Что прислать в интро: ниша, сайт/соцсети, что вы уже сделали, какая задача у клиента, кто принимает решение.</a:t>
            </a:r>
          </a:p>
        </p:txBody>
      </p:sp>
    </p:spTree>
    <p:extLst>
      <p:ext uri="{BB962C8B-B14F-4D97-AF65-F5344CB8AC3E}">
        <p14:creationId xmlns:p14="http://schemas.microsoft.com/office/powerpoint/2010/main" val="2931937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388FE8-F5B2-4A26-B922-7EE526E2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-1428750"/>
            <a:ext cx="49530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9D0EB-2461-40D6-B504-05524467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-1066800"/>
            <a:ext cx="47625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B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56685-068D-41AA-A703-85A7FBEE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B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3C1A0-CE59-44C2-9244-3D8E7675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301C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CF08A-3C31-47D4-8AE0-DA6EA708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условия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2D8F1-C233-409E-8258-5110030B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42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rPr>
              <a:t>Правила выплаты: чтобы всем было понятно до первого созвона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4E615-DE83-4EC2-9877-328D3D37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990600"/>
            <a:ext cx="321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Главное: источник закрепляется заранее, а деньги считаются только от оплаченного клиентом чека.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1806A-DF5D-4B02-B141-44FEDFED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F7D50-E5FA-4A59-AF7E-BBE1A4A6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7F8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8E79"/>
                </a:solidFill>
                <a:latin typeface="Aptos"/>
                <a:ea typeface="Aptos"/>
                <a:cs typeface="Aptos"/>
              </a:rPr>
              <a:t>Партнерское КП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26C5B-A839-479F-BD6A-D498CCCE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F8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8E79"/>
                </a:solidFill>
                <a:latin typeface="Aptos"/>
                <a:ea typeface="Aptos"/>
                <a:cs typeface="Aptos"/>
              </a:rPr>
              <a:t>07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2932B-9171-42C2-8BA3-019AC876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219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F1C67-017A-41BD-9823-6D6BF4AD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Что считается чеком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9AD61-5A79-4714-84F5-33D32812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Сумма, которую клиент оплатил за мою работу: аудит, запуск, ведение, аналитику или спринт.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A5C7F6-4ED3-400A-B75E-1D60BAC9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5219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D8C9DE-59E7-4A0E-9AE2-DFA0BF50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Когда выплата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BF4DC-84A3-4380-B23F-2959122F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432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После фактической оплаты клиента. Стандартно - в течение 1-3 рабочих дней после поступления денег.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F3E6C-0C3F-4516-8F23-1F51DCC0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219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6548F-7325-448A-89C8-B9C9165F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Сколько выплат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094BAE-BB32-4606-B920-C6B2163B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По умолчанию - с первого оплаченного чека. Повторные выплаты за ведение фиксируем отдельно до старта.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7182D2-F74C-488A-B2F5-D7367ADB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5219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133B8-EFFC-40D5-A922-0FDD16D8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48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Как закрепляем источник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8CB81-1679-4186-B4D1-6FAE3089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910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В переписке до первого созвона: кто передал клиента, контакт клиента, задача и дата интро.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B3A3A-6875-4BDC-A159-589DE514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8F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1F6D7-C39D-49C0-B34F-09D03FB0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710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00B"/>
                </a:solidFill>
                <a:latin typeface="Aptos"/>
                <a:ea typeface="Aptos"/>
                <a:cs typeface="Aptos"/>
              </a:rPr>
              <a:t>Примеры: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84BA68-072F-4D17-A079-4A213465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2450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0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710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00B"/>
                </a:solidFill>
                <a:latin typeface="Aptos"/>
                <a:ea typeface="Aptos"/>
                <a:cs typeface="Aptos"/>
              </a:rPr>
              <a:t>50 тыс. ₽ чек → 10 тыс. ₽ партнеру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EDB273-310E-4A15-B520-3D690298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52450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0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710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00B"/>
                </a:solidFill>
                <a:latin typeface="Aptos"/>
                <a:ea typeface="Aptos"/>
                <a:cs typeface="Aptos"/>
              </a:rPr>
              <a:t>90 тыс. ₽ чек → 18 тыс. ₽ партнеру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07F260-BC03-4AD6-885B-6AF1B470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52450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68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710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00B"/>
                </a:solidFill>
                <a:latin typeface="Aptos"/>
                <a:ea typeface="Aptos"/>
                <a:cs typeface="Aptos"/>
              </a:rPr>
              <a:t>150 тыс. ₽ чек → 30 тыс. ₽ партнеру</a:t>
            </a:r>
          </a:p>
        </p:txBody>
      </p:sp>
    </p:spTree>
    <p:extLst>
      <p:ext uri="{BB962C8B-B14F-4D97-AF65-F5344CB8AC3E}">
        <p14:creationId xmlns:p14="http://schemas.microsoft.com/office/powerpoint/2010/main" val="7588893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FB3641-E620-4CF6-8CE3-625BFE04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-1428750"/>
            <a:ext cx="49530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CAEAC-9C7C-411E-B770-2687A106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-1066800"/>
            <a:ext cx="47625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B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AEE6A-A6A7-479B-8D4F-F5BDCE4B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B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A9DD2-CA70-4FEB-BE6E-BF75642F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301C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C2D1F-722C-45E9-A91E-C412D525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FF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FF64"/>
                </a:solidFill>
                <a:latin typeface="Aptos"/>
                <a:ea typeface="Aptos"/>
                <a:cs typeface="Aptos"/>
              </a:rPr>
              <a:t>готовое интро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C4BDD-94AA-4A09-A868-9793F416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571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rPr>
              <a:t>Как предложить клиента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3F7EA"/>
                </a:solidFill>
                <a:latin typeface="Aptos Display"/>
                <a:ea typeface="Aptos Display"/>
                <a:cs typeface="Aptos Display"/>
              </a:rPr>
              <a:t>без неловкой продажи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060A4-12AA-4A06-B977-11EE6507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200150"/>
            <a:ext cx="4267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3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Можно буквально скопировать текст ниже, заменить контекст и отправить клиенту после завершения своей части проекта.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A2295-8A1B-44C2-B788-CC2E3A76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5722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D8F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65605-C1CB-4070-87C3-6707031C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710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0B"/>
                </a:solidFill>
                <a:latin typeface="Aptos"/>
                <a:ea typeface="Aptos"/>
                <a:cs typeface="Aptos"/>
              </a:rPr>
              <a:t>Сообщение клиенту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3917E-BFB6-48C2-B3BE-7031B085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571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1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7100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00B"/>
                </a:solidFill>
                <a:latin typeface="Aptos"/>
                <a:ea typeface="Aptos"/>
                <a:cs typeface="Aptos"/>
              </a:rPr>
              <a:t>Привет! Следующий шаг после [сайта / дизайна / SMM] - понять, откуда будут заявки и как их считать. Могу познакомить с маркетологом: он посмотрит воронку, каналы и предложит понятный план запуска. Познакомить?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E5D0C-6A23-4F86-848D-AF668D08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1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630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017"/>
                </a:solidFill>
                <a:latin typeface="Aptos"/>
                <a:ea typeface="Aptos"/>
                <a:cs typeface="Aptos"/>
              </a:rPr>
              <a:t>Такое интро сохраняет вашу роль: вы не продаете рекламу, вы помогаете клиенту закрыть следующий логичный шаг.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F27F5-EE17-498C-84C4-134F2D95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40576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132317"/>
          </a:solidFill>
          <a:ln xmlns:a="http://schemas.openxmlformats.org/drawingml/2006/main" w="9525">
            <a:solidFill>
              <a:srgbClr val="6D81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81A4E-B2AD-461D-AD79-5C1D4130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7C3AE"/>
                </a:solidFill>
                <a:latin typeface="Aptos"/>
                <a:ea typeface="Aptos"/>
                <a:cs typeface="Aptos"/>
              </a:rPr>
              <a:t>Контакты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3E48B-8BAF-4055-9CAC-FC9DB914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rPr>
              <a:t>Telegram: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8FF64"/>
                </a:solidFill>
                <a:latin typeface="Aptos Display"/>
                <a:ea typeface="Aptos Display"/>
                <a:cs typeface="Aptos Display"/>
              </a:rPr>
              <a:t>@isrmtnkv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28750-057D-4110-8817-6C14FC17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9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Email: my@srmtnkv.ru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38939-A44D-48B5-8424-164E8280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95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1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B7C3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C3AE"/>
                </a:solidFill>
                <a:latin typeface="Aptos"/>
                <a:ea typeface="Aptos"/>
                <a:cs typeface="Aptos"/>
              </a:rPr>
              <a:t>Пишите в Telegram или на почту, если удобнее письмом.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01291-B659-44FE-83F8-FBF0FB83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190F"/>
          </a:solidFill>
          <a:ln xmlns:a="http://schemas.openxmlformats.org/drawingml/2006/main" w="9525">
            <a:solidFill>
              <a:srgbClr val="3E56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25462-71E3-4619-A478-FA8F75F7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7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EA"/>
                </a:solidFill>
                <a:latin typeface="Aptos"/>
                <a:ea typeface="Aptos"/>
                <a:cs typeface="Aptos"/>
              </a:rPr>
              <a:t>Что писать мне: ниша клиента, ссылка на проект, какая работа уже сделана, какая задача по заявкам, кто принимает решение.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17D03-364D-4839-B43E-01A9F5BF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D7DCF-4295-4E79-9A0E-9D44CDA0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7F8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8E79"/>
                </a:solidFill>
                <a:latin typeface="Aptos"/>
                <a:ea typeface="Aptos"/>
                <a:cs typeface="Aptos"/>
              </a:rPr>
              <a:t>Маркетолог на аутсорсе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EA46BD-6039-4AAC-B29B-A1AC1A01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F8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8E79"/>
                </a:solidFill>
                <a:latin typeface="Aptos"/>
                <a:ea typeface="Aptos"/>
                <a:cs typeface="Aptos"/>
              </a:rP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1800815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2026-06-19T20:07:05.5430000Z</dcterms:created>
  <dcterms:modified xsi:type="dcterms:W3CDTF">2026-06-19T20:07:05.5430000Z</dcterms:modified>
</coreProperties>
</file>